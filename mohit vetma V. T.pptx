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mbria Bold" charset="1" panose="02040803050406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Welcome slide. Introduce the campaign concept: FitLife Pro is a new fitness app targeting urban Indian millennials aged 22–35. Campaign name: #GetFitWithPro — a 90-day digital launch campaign.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Talk through the product briefly: FitLife Pro uses AI to create personalized workout and diet plans. The 90-day campaign with a 10 lakh budget aims to drive 50K downloads and build brand awareness among urban millennials.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Emphasize that the primary segment — urban professionals aged 22–30 — are already spending on fitness but lack consistency. FitLife Pro solves this with AI-guided plans and habit tracking.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Instagram is the primary platform given the visual nature of fitness content. YouTube drives deeper engagement. WhatsApp for retention and community building. Total posting cadence: ~45 pieces of content per week across all platforms.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Content pillar strategy: 40% educational (tips, myths, nutrition), 30% entertainment (challenges, reels), 20% UGC and community, 10% promotional. This ratio maximizes organic reach while keeping the audience engaged.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Three-phase funnel: Awareness → Consideration → Conversion. Each phase uses different ad formats and objectives. Key metric for Phase 1: CPM and reach. Phase 2: CTR and app installs. Phase 3: CAC and conversion rate.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Meta ads get the highest allocation because Instagram and Facebook have the most precise targeting for our audience. Influencer marketing second — critical for trust-building in the fitness space. Monitor CPM and CAC weekly.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Micro-influencers offer the best ROI for fitness apps — their audiences are highly engaged and trust their recommendations. Use unique promo codes (e.g., FITLIFE-PRIYA) per influencer for attribution tracking.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conversion funnel: from 5 lakh impressions, we expect ~10% to visit the app store, ~30% of those to download, ~25% to start a free trial, and ~23% of trials to convert to paid. CAC of INR 19 is well below the LTV of INR 600+.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Closing slide. Recap: 90-day campaign, INR 10L budget, 3-phase approach. Month 1 sets brand awareness, Month 2 drives downloads, Month 3 converts free users to paid. Total target: 52,000 downloads and INR 14L revenue.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220725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E94560">
                <a:alpha val="5882"/>
              </a:srgbClr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32103" y="-927097"/>
            <a:ext cx="4597403" cy="4597403"/>
            <a:chOff x="0" y="0"/>
            <a:chExt cx="6129871" cy="612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29909" cy="6129909"/>
            </a:xfrm>
            <a:custGeom>
              <a:avLst/>
              <a:gdLst/>
              <a:ahLst/>
              <a:cxnLst/>
              <a:rect r="r" b="b" t="t" l="l"/>
              <a:pathLst>
                <a:path h="6129909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cubicBezTo>
                    <a:pt x="4757547" y="0"/>
                    <a:pt x="6129909" y="1372235"/>
                    <a:pt x="6129909" y="3064891"/>
                  </a:cubicBezTo>
                  <a:cubicBezTo>
                    <a:pt x="6129909" y="4757547"/>
                    <a:pt x="4757674" y="6129909"/>
                    <a:pt x="3064891" y="6129909"/>
                  </a:cubicBezTo>
                  <a:cubicBezTo>
                    <a:pt x="1372108" y="6129909"/>
                    <a:pt x="0" y="4757674"/>
                    <a:pt x="0" y="3064891"/>
                  </a:cubicBezTo>
                  <a:close/>
                </a:path>
              </a:pathLst>
            </a:custGeom>
            <a:solidFill>
              <a:srgbClr val="F5A623">
                <a:alpha val="3922"/>
              </a:srgbClr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1703" y="1816103"/>
            <a:ext cx="5146043" cy="720347"/>
            <a:chOff x="0" y="0"/>
            <a:chExt cx="6861391" cy="960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61428" cy="960501"/>
            </a:xfrm>
            <a:custGeom>
              <a:avLst/>
              <a:gdLst/>
              <a:ahLst/>
              <a:cxnLst/>
              <a:rect r="r" b="b" t="t" l="l"/>
              <a:pathLst>
                <a:path h="960501" w="6861428">
                  <a:moveTo>
                    <a:pt x="0" y="202184"/>
                  </a:moveTo>
                  <a:cubicBezTo>
                    <a:pt x="0" y="90551"/>
                    <a:pt x="90551" y="0"/>
                    <a:pt x="202184" y="0"/>
                  </a:cubicBezTo>
                  <a:lnTo>
                    <a:pt x="6659245" y="0"/>
                  </a:lnTo>
                  <a:cubicBezTo>
                    <a:pt x="6770877" y="0"/>
                    <a:pt x="6861428" y="90551"/>
                    <a:pt x="6861428" y="202184"/>
                  </a:cubicBezTo>
                  <a:lnTo>
                    <a:pt x="6861428" y="758317"/>
                  </a:lnTo>
                  <a:cubicBezTo>
                    <a:pt x="6861428" y="869950"/>
                    <a:pt x="6770877" y="960501"/>
                    <a:pt x="6659245" y="960501"/>
                  </a:cubicBezTo>
                  <a:lnTo>
                    <a:pt x="202184" y="960501"/>
                  </a:lnTo>
                  <a:cubicBezTo>
                    <a:pt x="90551" y="960501"/>
                    <a:pt x="0" y="869950"/>
                    <a:pt x="0" y="758317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828800"/>
            <a:ext cx="5120640" cy="694944"/>
            <a:chOff x="0" y="0"/>
            <a:chExt cx="682752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8275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MARKETING CAMPAIGN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834640"/>
            <a:ext cx="16459200" cy="2377440"/>
            <a:chOff x="0" y="0"/>
            <a:chExt cx="21945600" cy="3169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FitLife Pro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029200"/>
            <a:ext cx="12801600" cy="1005840"/>
            <a:chOff x="0" y="0"/>
            <a:chExt cx="170688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0688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5A6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&amp; Fitness App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6126480"/>
            <a:ext cx="14630400" cy="731520"/>
            <a:chOff x="0" y="0"/>
            <a:chExt cx="195072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507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Campaign: #GetFitWithPro — 90-Day Digital Launch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7119623"/>
            <a:ext cx="7340603" cy="98555"/>
            <a:chOff x="0" y="0"/>
            <a:chExt cx="978747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87509" cy="131445"/>
            </a:xfrm>
            <a:custGeom>
              <a:avLst/>
              <a:gdLst/>
              <a:ahLst/>
              <a:cxnLst/>
              <a:rect r="r" b="b" t="t" l="l"/>
              <a:pathLst>
                <a:path h="131445" w="9787509">
                  <a:moveTo>
                    <a:pt x="0" y="0"/>
                  </a:moveTo>
                  <a:lnTo>
                    <a:pt x="9787509" y="0"/>
                  </a:lnTo>
                  <a:lnTo>
                    <a:pt x="978750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7498080"/>
            <a:ext cx="16459200" cy="640080"/>
            <a:chOff x="0" y="0"/>
            <a:chExt cx="2194560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Prepared by: </a:t>
              </a:r>
              <a:r>
                <a:rPr lang="en-US" sz="2200" b="true">
                  <a:solidFill>
                    <a:srgbClr val="A0A0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Mohit verma</a:t>
              </a:r>
              <a:r>
                <a:rPr lang="en-US" sz="22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|   Batch: 2026-27   |   Vellaration Technologies Pvt. Ltd.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8229600"/>
            <a:ext cx="16459200" cy="512064"/>
            <a:chOff x="0" y="0"/>
            <a:chExt cx="219456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E945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Task 3 — Marketing Campaign Design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Campaign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07543"/>
            <a:ext cx="7889243" cy="2768603"/>
            <a:chOff x="0" y="0"/>
            <a:chExt cx="10518991" cy="3691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89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51890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223627" y="0"/>
                  </a:lnTo>
                  <a:cubicBezTo>
                    <a:pt x="10386695" y="0"/>
                    <a:pt x="10518902" y="132207"/>
                    <a:pt x="10518902" y="295275"/>
                  </a:cubicBezTo>
                  <a:lnTo>
                    <a:pt x="10518902" y="3396107"/>
                  </a:lnTo>
                  <a:cubicBezTo>
                    <a:pt x="10518902" y="3559175"/>
                    <a:pt x="10386695" y="3691382"/>
                    <a:pt x="1022362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0F346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2048256"/>
            <a:ext cx="7315200" cy="548640"/>
            <a:chOff x="0" y="0"/>
            <a:chExt cx="97536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About FitLife Pro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8720" y="2706624"/>
            <a:ext cx="7315200" cy="1828800"/>
            <a:chOff x="0" y="0"/>
            <a:chExt cx="975360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5360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F0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Product: </a:t>
              </a:r>
              <a:r>
                <a:rPr lang="en-US" sz="22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health &amp; fitness mobile app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F0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Platform: </a:t>
              </a:r>
              <a:r>
                <a:rPr lang="en-US" sz="22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Android &amp; iOS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F0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Target: </a:t>
              </a:r>
              <a:r>
                <a:rPr lang="en-US" sz="22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Urban Indians, Age 22–35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4183" y="1907543"/>
            <a:ext cx="8072123" cy="2768603"/>
            <a:chOff x="0" y="0"/>
            <a:chExt cx="10762831" cy="3691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74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76274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467467" y="0"/>
                  </a:lnTo>
                  <a:cubicBezTo>
                    <a:pt x="10630536" y="0"/>
                    <a:pt x="10762742" y="132207"/>
                    <a:pt x="10762742" y="295275"/>
                  </a:cubicBezTo>
                  <a:lnTo>
                    <a:pt x="10762742" y="3396107"/>
                  </a:lnTo>
                  <a:cubicBezTo>
                    <a:pt x="10762742" y="3559175"/>
                    <a:pt x="10630536" y="3691382"/>
                    <a:pt x="1046746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0F346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1200" y="2048256"/>
            <a:ext cx="7315200" cy="548640"/>
            <a:chOff x="0" y="0"/>
            <a:chExt cx="9753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Campaign Details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0" y="2706624"/>
            <a:ext cx="7315200" cy="1828800"/>
            <a:chOff x="0" y="0"/>
            <a:chExt cx="9753600" cy="243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F0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Name: </a:t>
              </a:r>
              <a:r>
                <a:rPr lang="en-US" sz="22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#GetFitWithPro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F0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Duration: </a:t>
              </a:r>
              <a:r>
                <a:rPr lang="en-US" sz="22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90 Days (3 Months)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0F0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Budget: </a:t>
              </a:r>
              <a:r>
                <a:rPr lang="en-US" sz="22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INR 10 Lakhs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974336"/>
            <a:ext cx="16459200" cy="585216"/>
            <a:chOff x="0" y="0"/>
            <a:chExt cx="219456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945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Campaign Objectives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5656583"/>
            <a:ext cx="4048763" cy="3408683"/>
            <a:chOff x="0" y="0"/>
            <a:chExt cx="5398351" cy="4544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98389" cy="4544949"/>
            </a:xfrm>
            <a:custGeom>
              <a:avLst/>
              <a:gdLst/>
              <a:ahLst/>
              <a:cxnLst/>
              <a:rect r="r" b="b" t="t" l="l"/>
              <a:pathLst>
                <a:path h="4544949" w="5398389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5103622" y="0"/>
                  </a:lnTo>
                  <a:cubicBezTo>
                    <a:pt x="5266436" y="0"/>
                    <a:pt x="5398389" y="131953"/>
                    <a:pt x="5398389" y="294767"/>
                  </a:cubicBezTo>
                  <a:lnTo>
                    <a:pt x="5398389" y="4250182"/>
                  </a:lnTo>
                  <a:cubicBezTo>
                    <a:pt x="5398389" y="4412996"/>
                    <a:pt x="5266436" y="4544949"/>
                    <a:pt x="5103622" y="4544949"/>
                  </a:cubicBezTo>
                  <a:lnTo>
                    <a:pt x="294767" y="4544949"/>
                  </a:lnTo>
                  <a:cubicBezTo>
                    <a:pt x="131953" y="4544949"/>
                    <a:pt x="0" y="4412869"/>
                    <a:pt x="0" y="4250182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5815584"/>
            <a:ext cx="4023360" cy="822960"/>
            <a:chOff x="0" y="0"/>
            <a:chExt cx="53644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6620256"/>
            <a:ext cx="4023360" cy="822960"/>
            <a:chOff x="0" y="0"/>
            <a:chExt cx="53644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50,000+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7443216"/>
            <a:ext cx="4023360" cy="1280160"/>
            <a:chOff x="0" y="0"/>
            <a:chExt cx="5364480" cy="1706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644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Downloads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54247" y="5656583"/>
            <a:ext cx="4048763" cy="3408683"/>
            <a:chOff x="0" y="0"/>
            <a:chExt cx="5398351" cy="45449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8389" cy="4544949"/>
            </a:xfrm>
            <a:custGeom>
              <a:avLst/>
              <a:gdLst/>
              <a:ahLst/>
              <a:cxnLst/>
              <a:rect r="r" b="b" t="t" l="l"/>
              <a:pathLst>
                <a:path h="4544949" w="5398389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5103622" y="0"/>
                  </a:lnTo>
                  <a:cubicBezTo>
                    <a:pt x="5266436" y="0"/>
                    <a:pt x="5398389" y="131953"/>
                    <a:pt x="5398389" y="294767"/>
                  </a:cubicBezTo>
                  <a:lnTo>
                    <a:pt x="5398389" y="4250182"/>
                  </a:lnTo>
                  <a:cubicBezTo>
                    <a:pt x="5398389" y="4412996"/>
                    <a:pt x="5266436" y="4544949"/>
                    <a:pt x="5103622" y="4544949"/>
                  </a:cubicBezTo>
                  <a:lnTo>
                    <a:pt x="294767" y="4544949"/>
                  </a:lnTo>
                  <a:cubicBezTo>
                    <a:pt x="131953" y="4544949"/>
                    <a:pt x="0" y="4412869"/>
                    <a:pt x="0" y="4250182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266944" y="5815584"/>
            <a:ext cx="4023360" cy="822960"/>
            <a:chOff x="0" y="0"/>
            <a:chExt cx="53644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👥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66944" y="6620256"/>
            <a:ext cx="4023360" cy="822960"/>
            <a:chOff x="0" y="0"/>
            <a:chExt cx="53644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Lakh+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266944" y="7443216"/>
            <a:ext cx="4023360" cy="1280160"/>
            <a:chOff x="0" y="0"/>
            <a:chExt cx="5364480" cy="1706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3644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Media Reach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6791" y="5656583"/>
            <a:ext cx="4048763" cy="3408683"/>
            <a:chOff x="0" y="0"/>
            <a:chExt cx="5398351" cy="45449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8389" cy="4544949"/>
            </a:xfrm>
            <a:custGeom>
              <a:avLst/>
              <a:gdLst/>
              <a:ahLst/>
              <a:cxnLst/>
              <a:rect r="r" b="b" t="t" l="l"/>
              <a:pathLst>
                <a:path h="4544949" w="5398389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5103622" y="0"/>
                  </a:lnTo>
                  <a:cubicBezTo>
                    <a:pt x="5266436" y="0"/>
                    <a:pt x="5398389" y="131953"/>
                    <a:pt x="5398389" y="294767"/>
                  </a:cubicBezTo>
                  <a:lnTo>
                    <a:pt x="5398389" y="4250182"/>
                  </a:lnTo>
                  <a:cubicBezTo>
                    <a:pt x="5398389" y="4412996"/>
                    <a:pt x="5266436" y="4544949"/>
                    <a:pt x="5103622" y="4544949"/>
                  </a:cubicBezTo>
                  <a:lnTo>
                    <a:pt x="294767" y="4544949"/>
                  </a:lnTo>
                  <a:cubicBezTo>
                    <a:pt x="131953" y="4544949"/>
                    <a:pt x="0" y="4412869"/>
                    <a:pt x="0" y="4250182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19488" y="5815584"/>
            <a:ext cx="4023360" cy="822960"/>
            <a:chOff x="0" y="0"/>
            <a:chExt cx="53644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💰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19488" y="6620256"/>
            <a:ext cx="4023360" cy="822960"/>
            <a:chOff x="0" y="0"/>
            <a:chExt cx="53644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INR 15L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19488" y="7443216"/>
            <a:ext cx="4023360" cy="1280160"/>
            <a:chOff x="0" y="0"/>
            <a:chExt cx="5364480" cy="17068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3644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Target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959335" y="5656583"/>
            <a:ext cx="4048763" cy="3408683"/>
            <a:chOff x="0" y="0"/>
            <a:chExt cx="5398351" cy="45449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98389" cy="4544949"/>
            </a:xfrm>
            <a:custGeom>
              <a:avLst/>
              <a:gdLst/>
              <a:ahLst/>
              <a:cxnLst/>
              <a:rect r="r" b="b" t="t" l="l"/>
              <a:pathLst>
                <a:path h="4544949" w="5398389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5103622" y="0"/>
                  </a:lnTo>
                  <a:cubicBezTo>
                    <a:pt x="5266436" y="0"/>
                    <a:pt x="5398389" y="131953"/>
                    <a:pt x="5398389" y="294767"/>
                  </a:cubicBezTo>
                  <a:lnTo>
                    <a:pt x="5398389" y="4250182"/>
                  </a:lnTo>
                  <a:cubicBezTo>
                    <a:pt x="5398389" y="4412996"/>
                    <a:pt x="5266436" y="4544949"/>
                    <a:pt x="5103622" y="4544949"/>
                  </a:cubicBezTo>
                  <a:lnTo>
                    <a:pt x="294767" y="4544949"/>
                  </a:lnTo>
                  <a:cubicBezTo>
                    <a:pt x="131953" y="4544949"/>
                    <a:pt x="0" y="4412869"/>
                    <a:pt x="0" y="4250182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972032" y="5815584"/>
            <a:ext cx="4023360" cy="822960"/>
            <a:chOff x="0" y="0"/>
            <a:chExt cx="53644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⭐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972032" y="6620256"/>
            <a:ext cx="4023360" cy="822960"/>
            <a:chOff x="0" y="0"/>
            <a:chExt cx="53644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4.5★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972032" y="7443216"/>
            <a:ext cx="4023360" cy="1280160"/>
            <a:chOff x="0" y="0"/>
            <a:chExt cx="5364480" cy="1706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644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3644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Store Rating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Target Audience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98983"/>
            <a:ext cx="16484603" cy="2256539"/>
            <a:chOff x="0" y="0"/>
            <a:chExt cx="21979471" cy="30087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79510" cy="3008757"/>
            </a:xfrm>
            <a:custGeom>
              <a:avLst/>
              <a:gdLst/>
              <a:ahLst/>
              <a:cxnLst/>
              <a:rect r="r" b="b" t="t" l="l"/>
              <a:pathLst>
                <a:path h="3008757" w="21979510">
                  <a:moveTo>
                    <a:pt x="0" y="246634"/>
                  </a:moveTo>
                  <a:cubicBezTo>
                    <a:pt x="0" y="110363"/>
                    <a:pt x="110363" y="0"/>
                    <a:pt x="246634" y="0"/>
                  </a:cubicBezTo>
                  <a:lnTo>
                    <a:pt x="21732875" y="0"/>
                  </a:lnTo>
                  <a:cubicBezTo>
                    <a:pt x="21869019" y="0"/>
                    <a:pt x="21979510" y="110363"/>
                    <a:pt x="21979510" y="246634"/>
                  </a:cubicBezTo>
                  <a:lnTo>
                    <a:pt x="21979510" y="2762123"/>
                  </a:lnTo>
                  <a:cubicBezTo>
                    <a:pt x="21979510" y="2898267"/>
                    <a:pt x="21869146" y="3008757"/>
                    <a:pt x="21732875" y="3008757"/>
                  </a:cubicBezTo>
                  <a:lnTo>
                    <a:pt x="246634" y="3008757"/>
                  </a:lnTo>
                  <a:cubicBezTo>
                    <a:pt x="110363" y="3008757"/>
                    <a:pt x="0" y="2898267"/>
                    <a:pt x="0" y="276212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157984"/>
            <a:ext cx="6400800" cy="548640"/>
            <a:chOff x="0" y="0"/>
            <a:chExt cx="85344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945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Segment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2779776"/>
            <a:ext cx="6400800" cy="457200"/>
            <a:chOff x="0" y="0"/>
            <a:chExt cx="85344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Age: 22–30 yrs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3255264"/>
            <a:ext cx="10058400" cy="731520"/>
            <a:chOff x="0" y="0"/>
            <a:chExt cx="134112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411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professionals, gym-curious millennials, fitness beginners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983463" y="2456183"/>
            <a:ext cx="1671323" cy="1214123"/>
            <a:chOff x="0" y="0"/>
            <a:chExt cx="2228431" cy="16188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83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28342">
                  <a:moveTo>
                    <a:pt x="0" y="809371"/>
                  </a:moveTo>
                  <a:cubicBezTo>
                    <a:pt x="0" y="362331"/>
                    <a:pt x="498856" y="0"/>
                    <a:pt x="1114171" y="0"/>
                  </a:cubicBezTo>
                  <a:cubicBezTo>
                    <a:pt x="1729486" y="0"/>
                    <a:pt x="2228342" y="362331"/>
                    <a:pt x="2228342" y="809371"/>
                  </a:cubicBezTo>
                  <a:cubicBezTo>
                    <a:pt x="2228342" y="1256411"/>
                    <a:pt x="1729486" y="1618742"/>
                    <a:pt x="1114171" y="1618742"/>
                  </a:cubicBezTo>
                  <a:cubicBezTo>
                    <a:pt x="498856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996160" y="2468880"/>
            <a:ext cx="1645920" cy="1188720"/>
            <a:chOff x="0" y="0"/>
            <a:chExt cx="219456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663" t="0" r="-4266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55%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4522727"/>
            <a:ext cx="16484603" cy="2256539"/>
            <a:chOff x="0" y="0"/>
            <a:chExt cx="21979471" cy="3008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510" cy="3008757"/>
            </a:xfrm>
            <a:custGeom>
              <a:avLst/>
              <a:gdLst/>
              <a:ahLst/>
              <a:cxnLst/>
              <a:rect r="r" b="b" t="t" l="l"/>
              <a:pathLst>
                <a:path h="3008757" w="21979510">
                  <a:moveTo>
                    <a:pt x="0" y="246634"/>
                  </a:moveTo>
                  <a:cubicBezTo>
                    <a:pt x="0" y="110363"/>
                    <a:pt x="110363" y="0"/>
                    <a:pt x="246634" y="0"/>
                  </a:cubicBezTo>
                  <a:lnTo>
                    <a:pt x="21732875" y="0"/>
                  </a:lnTo>
                  <a:cubicBezTo>
                    <a:pt x="21869019" y="0"/>
                    <a:pt x="21979510" y="110363"/>
                    <a:pt x="21979510" y="246634"/>
                  </a:cubicBezTo>
                  <a:lnTo>
                    <a:pt x="21979510" y="2762123"/>
                  </a:lnTo>
                  <a:cubicBezTo>
                    <a:pt x="21979510" y="2898267"/>
                    <a:pt x="21869146" y="3008757"/>
                    <a:pt x="21732875" y="3008757"/>
                  </a:cubicBezTo>
                  <a:lnTo>
                    <a:pt x="246634" y="3008757"/>
                  </a:lnTo>
                  <a:cubicBezTo>
                    <a:pt x="110363" y="3008757"/>
                    <a:pt x="0" y="2898267"/>
                    <a:pt x="0" y="276212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71600" y="4681728"/>
            <a:ext cx="6400800" cy="548640"/>
            <a:chOff x="0" y="0"/>
            <a:chExt cx="8534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Secondary Segment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5303520"/>
            <a:ext cx="6400800" cy="457200"/>
            <a:chOff x="0" y="0"/>
            <a:chExt cx="85344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Age: 30–40 yrs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1600" y="5779008"/>
            <a:ext cx="10058400" cy="731520"/>
            <a:chOff x="0" y="0"/>
            <a:chExt cx="1341120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3411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Health-conscious parents, weight management seekers, working moms/dads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983463" y="4979927"/>
            <a:ext cx="1671323" cy="1214123"/>
            <a:chOff x="0" y="0"/>
            <a:chExt cx="2228431" cy="161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283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28342">
                  <a:moveTo>
                    <a:pt x="0" y="809371"/>
                  </a:moveTo>
                  <a:cubicBezTo>
                    <a:pt x="0" y="362331"/>
                    <a:pt x="498856" y="0"/>
                    <a:pt x="1114171" y="0"/>
                  </a:cubicBezTo>
                  <a:cubicBezTo>
                    <a:pt x="1729486" y="0"/>
                    <a:pt x="2228342" y="362331"/>
                    <a:pt x="2228342" y="809371"/>
                  </a:cubicBezTo>
                  <a:cubicBezTo>
                    <a:pt x="2228342" y="1256411"/>
                    <a:pt x="1729486" y="1618742"/>
                    <a:pt x="1114171" y="1618742"/>
                  </a:cubicBezTo>
                  <a:cubicBezTo>
                    <a:pt x="498856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F5A623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996160" y="4992624"/>
            <a:ext cx="1645920" cy="1188720"/>
            <a:chOff x="0" y="0"/>
            <a:chExt cx="2194560" cy="158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663" t="0" r="-4266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1945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7046471"/>
            <a:ext cx="16484603" cy="2256539"/>
            <a:chOff x="0" y="0"/>
            <a:chExt cx="21979471" cy="30087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79510" cy="3008757"/>
            </a:xfrm>
            <a:custGeom>
              <a:avLst/>
              <a:gdLst/>
              <a:ahLst/>
              <a:cxnLst/>
              <a:rect r="r" b="b" t="t" l="l"/>
              <a:pathLst>
                <a:path h="3008757" w="21979510">
                  <a:moveTo>
                    <a:pt x="0" y="246634"/>
                  </a:moveTo>
                  <a:cubicBezTo>
                    <a:pt x="0" y="110363"/>
                    <a:pt x="110363" y="0"/>
                    <a:pt x="246634" y="0"/>
                  </a:cubicBezTo>
                  <a:lnTo>
                    <a:pt x="21732875" y="0"/>
                  </a:lnTo>
                  <a:cubicBezTo>
                    <a:pt x="21869019" y="0"/>
                    <a:pt x="21979510" y="110363"/>
                    <a:pt x="21979510" y="246634"/>
                  </a:cubicBezTo>
                  <a:lnTo>
                    <a:pt x="21979510" y="2762123"/>
                  </a:lnTo>
                  <a:cubicBezTo>
                    <a:pt x="21979510" y="2898267"/>
                    <a:pt x="21869146" y="3008757"/>
                    <a:pt x="21732875" y="3008757"/>
                  </a:cubicBezTo>
                  <a:lnTo>
                    <a:pt x="246634" y="3008757"/>
                  </a:lnTo>
                  <a:cubicBezTo>
                    <a:pt x="110363" y="3008757"/>
                    <a:pt x="0" y="2898267"/>
                    <a:pt x="0" y="276212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7205472"/>
            <a:ext cx="6400800" cy="548640"/>
            <a:chOff x="0" y="0"/>
            <a:chExt cx="85344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Tertiary Segment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" y="7827264"/>
            <a:ext cx="6400800" cy="457200"/>
            <a:chOff x="0" y="0"/>
            <a:chExt cx="85344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5344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Age: 18–22 yrs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1600" y="8302752"/>
            <a:ext cx="10058400" cy="731520"/>
            <a:chOff x="0" y="0"/>
            <a:chExt cx="1341120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3411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students, sports enthusiasts, social fitness sharers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983463" y="7503671"/>
            <a:ext cx="1671323" cy="1214123"/>
            <a:chOff x="0" y="0"/>
            <a:chExt cx="2228431" cy="16188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283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28342">
                  <a:moveTo>
                    <a:pt x="0" y="809371"/>
                  </a:moveTo>
                  <a:cubicBezTo>
                    <a:pt x="0" y="362331"/>
                    <a:pt x="498856" y="0"/>
                    <a:pt x="1114171" y="0"/>
                  </a:cubicBezTo>
                  <a:cubicBezTo>
                    <a:pt x="1729486" y="0"/>
                    <a:pt x="2228342" y="362331"/>
                    <a:pt x="2228342" y="809371"/>
                  </a:cubicBezTo>
                  <a:cubicBezTo>
                    <a:pt x="2228342" y="1256411"/>
                    <a:pt x="1729486" y="1618742"/>
                    <a:pt x="1114171" y="1618742"/>
                  </a:cubicBezTo>
                  <a:cubicBezTo>
                    <a:pt x="498856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27AE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996160" y="7516368"/>
            <a:ext cx="1645920" cy="1188720"/>
            <a:chOff x="0" y="0"/>
            <a:chExt cx="2194560" cy="1584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663" t="0" r="-4266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1945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" y="9326880"/>
            <a:ext cx="16459200" cy="548640"/>
            <a:chOff x="0" y="0"/>
            <a:chExt cx="219456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A0A0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Key Demographics: 70% metro cities  |  60% Android users  |  Income: INR 4–15 LPA  |  65% gym-goers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Social Media Plan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98983"/>
            <a:ext cx="8072123" cy="1945643"/>
            <a:chOff x="0" y="0"/>
            <a:chExt cx="10762831" cy="25941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74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76274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15727" y="0"/>
                  </a:lnTo>
                  <a:cubicBezTo>
                    <a:pt x="10652125" y="0"/>
                    <a:pt x="10762742" y="110617"/>
                    <a:pt x="10762742" y="247015"/>
                  </a:cubicBezTo>
                  <a:lnTo>
                    <a:pt x="10762742" y="2347087"/>
                  </a:lnTo>
                  <a:cubicBezTo>
                    <a:pt x="10762742" y="2483485"/>
                    <a:pt x="10652125" y="2594102"/>
                    <a:pt x="1051572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C1358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21159" y="2181863"/>
            <a:ext cx="1671323" cy="537467"/>
            <a:chOff x="0" y="0"/>
            <a:chExt cx="2228431" cy="7166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8469" cy="716661"/>
            </a:xfrm>
            <a:custGeom>
              <a:avLst/>
              <a:gdLst/>
              <a:ahLst/>
              <a:cxnLst/>
              <a:rect r="r" b="b" t="t" l="l"/>
              <a:pathLst>
                <a:path h="716661" w="222846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2074926" y="0"/>
                  </a:lnTo>
                  <a:cubicBezTo>
                    <a:pt x="2159762" y="0"/>
                    <a:pt x="2228469" y="68707"/>
                    <a:pt x="2228469" y="153543"/>
                  </a:cubicBezTo>
                  <a:lnTo>
                    <a:pt x="2228469" y="563118"/>
                  </a:lnTo>
                  <a:cubicBezTo>
                    <a:pt x="2228469" y="647954"/>
                    <a:pt x="2159762" y="716661"/>
                    <a:pt x="207492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C13584"/>
            </a:solidFill>
            <a:ln w="25400" cap="sq">
              <a:solidFill>
                <a:srgbClr val="C1358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33856" y="2194560"/>
            <a:ext cx="1645920" cy="512064"/>
            <a:chOff x="0" y="0"/>
            <a:chExt cx="219456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Instagram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26080" y="2194560"/>
            <a:ext cx="4572000" cy="512064"/>
            <a:chOff x="0" y="0"/>
            <a:chExt cx="60960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posts/day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3856" y="2834640"/>
            <a:ext cx="6400800" cy="402336"/>
            <a:chOff x="0" y="0"/>
            <a:chExt cx="8534400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Reels, Stories, Carousels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3856" y="3236976"/>
            <a:ext cx="6400800" cy="548640"/>
            <a:chOff x="0" y="0"/>
            <a:chExt cx="85344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Workout tips, transformation posts, influencer collabs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0" y="2194560"/>
            <a:ext cx="1005840" cy="512064"/>
            <a:chOff x="0" y="0"/>
            <a:chExt cx="13411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41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1358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4102103"/>
            <a:ext cx="8072123" cy="1945643"/>
            <a:chOff x="0" y="0"/>
            <a:chExt cx="10762831" cy="25941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274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76274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15727" y="0"/>
                  </a:lnTo>
                  <a:cubicBezTo>
                    <a:pt x="10652125" y="0"/>
                    <a:pt x="10762742" y="110617"/>
                    <a:pt x="10762742" y="247015"/>
                  </a:cubicBezTo>
                  <a:lnTo>
                    <a:pt x="10762742" y="2347087"/>
                  </a:lnTo>
                  <a:cubicBezTo>
                    <a:pt x="10762742" y="2483485"/>
                    <a:pt x="10652125" y="2594102"/>
                    <a:pt x="1051572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21159" y="4284983"/>
            <a:ext cx="1671323" cy="537467"/>
            <a:chOff x="0" y="0"/>
            <a:chExt cx="2228431" cy="7166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8469" cy="716661"/>
            </a:xfrm>
            <a:custGeom>
              <a:avLst/>
              <a:gdLst/>
              <a:ahLst/>
              <a:cxnLst/>
              <a:rect r="r" b="b" t="t" l="l"/>
              <a:pathLst>
                <a:path h="716661" w="222846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2074926" y="0"/>
                  </a:lnTo>
                  <a:cubicBezTo>
                    <a:pt x="2159762" y="0"/>
                    <a:pt x="2228469" y="68707"/>
                    <a:pt x="2228469" y="153543"/>
                  </a:cubicBezTo>
                  <a:lnTo>
                    <a:pt x="2228469" y="563118"/>
                  </a:lnTo>
                  <a:cubicBezTo>
                    <a:pt x="2228469" y="647954"/>
                    <a:pt x="2159762" y="716661"/>
                    <a:pt x="207492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FF0000"/>
            </a:solidFill>
            <a:ln w="25400" cap="sq">
              <a:solidFill>
                <a:srgbClr val="FF000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33856" y="4297680"/>
            <a:ext cx="1645920" cy="512064"/>
            <a:chOff x="0" y="0"/>
            <a:chExt cx="219456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19456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YouTube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926080" y="4297680"/>
            <a:ext cx="4572000" cy="512064"/>
            <a:chOff x="0" y="0"/>
            <a:chExt cx="60960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videos/week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3856" y="4937760"/>
            <a:ext cx="6400800" cy="402336"/>
            <a:chOff x="0" y="0"/>
            <a:chExt cx="8534400" cy="5364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Long-form + Shorts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3856" y="5340096"/>
            <a:ext cx="6400800" cy="548640"/>
            <a:chOff x="0" y="0"/>
            <a:chExt cx="8534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workout sessions, nutrition guides, success stories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680960" y="4297680"/>
            <a:ext cx="1005840" cy="512064"/>
            <a:chOff x="0" y="0"/>
            <a:chExt cx="134112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1703" y="6205223"/>
            <a:ext cx="8072123" cy="1945643"/>
            <a:chOff x="0" y="0"/>
            <a:chExt cx="10762831" cy="25941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76274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15727" y="0"/>
                  </a:lnTo>
                  <a:cubicBezTo>
                    <a:pt x="10652125" y="0"/>
                    <a:pt x="10762742" y="110617"/>
                    <a:pt x="10762742" y="247015"/>
                  </a:cubicBezTo>
                  <a:lnTo>
                    <a:pt x="10762742" y="2347087"/>
                  </a:lnTo>
                  <a:cubicBezTo>
                    <a:pt x="10762742" y="2483485"/>
                    <a:pt x="10652125" y="2594102"/>
                    <a:pt x="1051572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1877F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21159" y="6388103"/>
            <a:ext cx="1671323" cy="537467"/>
            <a:chOff x="0" y="0"/>
            <a:chExt cx="2228431" cy="7166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28469" cy="716661"/>
            </a:xfrm>
            <a:custGeom>
              <a:avLst/>
              <a:gdLst/>
              <a:ahLst/>
              <a:cxnLst/>
              <a:rect r="r" b="b" t="t" l="l"/>
              <a:pathLst>
                <a:path h="716661" w="222846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2074926" y="0"/>
                  </a:lnTo>
                  <a:cubicBezTo>
                    <a:pt x="2159762" y="0"/>
                    <a:pt x="2228469" y="68707"/>
                    <a:pt x="2228469" y="153543"/>
                  </a:cubicBezTo>
                  <a:lnTo>
                    <a:pt x="2228469" y="563118"/>
                  </a:lnTo>
                  <a:cubicBezTo>
                    <a:pt x="2228469" y="647954"/>
                    <a:pt x="2159762" y="716661"/>
                    <a:pt x="207492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1877F2"/>
            </a:solidFill>
            <a:ln w="25400" cap="sq">
              <a:solidFill>
                <a:srgbClr val="1877F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33856" y="6400800"/>
            <a:ext cx="1645920" cy="512064"/>
            <a:chOff x="0" y="0"/>
            <a:chExt cx="219456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19456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Facebook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926080" y="6400800"/>
            <a:ext cx="4572000" cy="512064"/>
            <a:chOff x="0" y="0"/>
            <a:chExt cx="60960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post/day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33856" y="7040880"/>
            <a:ext cx="6400800" cy="402336"/>
            <a:chOff x="0" y="0"/>
            <a:chExt cx="853440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Posts, Groups, Events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33856" y="7443216"/>
            <a:ext cx="6400800" cy="548640"/>
            <a:chOff x="0" y="0"/>
            <a:chExt cx="853440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 building, retargeting ads, event promotions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680960" y="6400800"/>
            <a:ext cx="1005840" cy="512064"/>
            <a:chOff x="0" y="0"/>
            <a:chExt cx="134112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4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341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877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20%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14183" y="1998983"/>
            <a:ext cx="8072123" cy="1945643"/>
            <a:chOff x="0" y="0"/>
            <a:chExt cx="10762831" cy="25941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6274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76274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15727" y="0"/>
                  </a:lnTo>
                  <a:cubicBezTo>
                    <a:pt x="10652125" y="0"/>
                    <a:pt x="10762742" y="110617"/>
                    <a:pt x="10762742" y="247015"/>
                  </a:cubicBezTo>
                  <a:lnTo>
                    <a:pt x="10762742" y="2347087"/>
                  </a:lnTo>
                  <a:cubicBezTo>
                    <a:pt x="10762742" y="2483485"/>
                    <a:pt x="10652125" y="2594102"/>
                    <a:pt x="1051572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1DA1F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33639" y="2181863"/>
            <a:ext cx="1671323" cy="537467"/>
            <a:chOff x="0" y="0"/>
            <a:chExt cx="2228431" cy="71662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28469" cy="716661"/>
            </a:xfrm>
            <a:custGeom>
              <a:avLst/>
              <a:gdLst/>
              <a:ahLst/>
              <a:cxnLst/>
              <a:rect r="r" b="b" t="t" l="l"/>
              <a:pathLst>
                <a:path h="716661" w="222846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2074926" y="0"/>
                  </a:lnTo>
                  <a:cubicBezTo>
                    <a:pt x="2159762" y="0"/>
                    <a:pt x="2228469" y="68707"/>
                    <a:pt x="2228469" y="153543"/>
                  </a:cubicBezTo>
                  <a:lnTo>
                    <a:pt x="2228469" y="563118"/>
                  </a:lnTo>
                  <a:cubicBezTo>
                    <a:pt x="2228469" y="647954"/>
                    <a:pt x="2159762" y="716661"/>
                    <a:pt x="207492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1DA1F2"/>
            </a:solidFill>
            <a:ln w="25400" cap="sq">
              <a:solidFill>
                <a:srgbClr val="1DA1F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546336" y="2194560"/>
            <a:ext cx="1645920" cy="512064"/>
            <a:chOff x="0" y="0"/>
            <a:chExt cx="219456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19456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Twitter/X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338560" y="2194560"/>
            <a:ext cx="4572000" cy="512064"/>
            <a:chOff x="0" y="0"/>
            <a:chExt cx="60960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3–4 tweets/day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46336" y="2834640"/>
            <a:ext cx="6400800" cy="402336"/>
            <a:chOff x="0" y="0"/>
            <a:chExt cx="853440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Threads, Polls, Memes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46336" y="3236976"/>
            <a:ext cx="6400800" cy="548640"/>
            <a:chOff x="0" y="0"/>
            <a:chExt cx="85344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facts, motivational threads, trending hashtags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093440" y="2194560"/>
            <a:ext cx="1005840" cy="512064"/>
            <a:chOff x="0" y="0"/>
            <a:chExt cx="134112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4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341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DA1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14183" y="4102103"/>
            <a:ext cx="8072123" cy="1945643"/>
            <a:chOff x="0" y="0"/>
            <a:chExt cx="10762831" cy="25941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6274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076274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0515727" y="0"/>
                  </a:lnTo>
                  <a:cubicBezTo>
                    <a:pt x="10652125" y="0"/>
                    <a:pt x="10762742" y="110617"/>
                    <a:pt x="10762742" y="247015"/>
                  </a:cubicBezTo>
                  <a:lnTo>
                    <a:pt x="10762742" y="2347087"/>
                  </a:lnTo>
                  <a:cubicBezTo>
                    <a:pt x="10762742" y="2483485"/>
                    <a:pt x="10652125" y="2594102"/>
                    <a:pt x="1051572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25D366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533639" y="4284983"/>
            <a:ext cx="1671323" cy="537467"/>
            <a:chOff x="0" y="0"/>
            <a:chExt cx="2228431" cy="71662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28469" cy="716661"/>
            </a:xfrm>
            <a:custGeom>
              <a:avLst/>
              <a:gdLst/>
              <a:ahLst/>
              <a:cxnLst/>
              <a:rect r="r" b="b" t="t" l="l"/>
              <a:pathLst>
                <a:path h="716661" w="222846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2074926" y="0"/>
                  </a:lnTo>
                  <a:cubicBezTo>
                    <a:pt x="2159762" y="0"/>
                    <a:pt x="2228469" y="68707"/>
                    <a:pt x="2228469" y="153543"/>
                  </a:cubicBezTo>
                  <a:lnTo>
                    <a:pt x="2228469" y="563118"/>
                  </a:lnTo>
                  <a:cubicBezTo>
                    <a:pt x="2228469" y="647954"/>
                    <a:pt x="2159762" y="716661"/>
                    <a:pt x="207492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25D366"/>
            </a:solidFill>
            <a:ln w="25400" cap="sq">
              <a:solidFill>
                <a:srgbClr val="25D366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546336" y="4297680"/>
            <a:ext cx="1645920" cy="512064"/>
            <a:chOff x="0" y="0"/>
            <a:chExt cx="219456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9456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219456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338560" y="4297680"/>
            <a:ext cx="4572000" cy="512064"/>
            <a:chOff x="0" y="0"/>
            <a:chExt cx="609600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broadcasts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546336" y="4937760"/>
            <a:ext cx="6400800" cy="402336"/>
            <a:chOff x="0" y="0"/>
            <a:chExt cx="853440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Status, Groups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546336" y="5340096"/>
            <a:ext cx="6400800" cy="548640"/>
            <a:chOff x="0" y="0"/>
            <a:chExt cx="853440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workout reminders, exclusive subscriber tips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6093440" y="4297680"/>
            <a:ext cx="1005840" cy="512064"/>
            <a:chOff x="0" y="0"/>
            <a:chExt cx="134112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4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341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25D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Content Strategy &amp; Ideas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07543"/>
            <a:ext cx="7889243" cy="3865883"/>
            <a:chOff x="0" y="0"/>
            <a:chExt cx="10518991" cy="5154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90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05190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10224516" y="0"/>
                  </a:lnTo>
                  <a:cubicBezTo>
                    <a:pt x="10387203" y="0"/>
                    <a:pt x="10519029" y="131826"/>
                    <a:pt x="10519029" y="294513"/>
                  </a:cubicBezTo>
                  <a:lnTo>
                    <a:pt x="10519029" y="4860036"/>
                  </a:lnTo>
                  <a:cubicBezTo>
                    <a:pt x="10519029" y="5022723"/>
                    <a:pt x="10387203" y="5154549"/>
                    <a:pt x="102245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0F346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3584" y="2139696"/>
            <a:ext cx="7132320" cy="640080"/>
            <a:chOff x="0" y="0"/>
            <a:chExt cx="950976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🎬  Video Content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3584" y="2926080"/>
            <a:ext cx="7132320" cy="2560320"/>
            <a:chOff x="0" y="0"/>
            <a:chExt cx="950976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9" r="0" b="-427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50976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30-day challenge reels (daily)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Behind-the-scenes app walkthrough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User transformation stories (UGC)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79943" y="1907543"/>
            <a:ext cx="7889243" cy="3865883"/>
            <a:chOff x="0" y="0"/>
            <a:chExt cx="10518991" cy="51545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90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05190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10224516" y="0"/>
                  </a:lnTo>
                  <a:cubicBezTo>
                    <a:pt x="10387203" y="0"/>
                    <a:pt x="10519029" y="131826"/>
                    <a:pt x="10519029" y="294513"/>
                  </a:cubicBezTo>
                  <a:lnTo>
                    <a:pt x="10519029" y="4860036"/>
                  </a:lnTo>
                  <a:cubicBezTo>
                    <a:pt x="10519029" y="5022723"/>
                    <a:pt x="10387203" y="5154549"/>
                    <a:pt x="102245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0F346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021824" y="2139696"/>
            <a:ext cx="7132320" cy="640080"/>
            <a:chOff x="0" y="0"/>
            <a:chExt cx="950976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📸  Static Posts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21824" y="2926080"/>
            <a:ext cx="7132320" cy="2560320"/>
            <a:chOff x="0" y="0"/>
            <a:chExt cx="950976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9" r="0" b="-427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50976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Workout tip infographics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Nutrition myth-busting carousels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Quote + motivational graphics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6113783"/>
            <a:ext cx="7889243" cy="3865883"/>
            <a:chOff x="0" y="0"/>
            <a:chExt cx="10518991" cy="5154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190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05190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10224516" y="0"/>
                  </a:lnTo>
                  <a:cubicBezTo>
                    <a:pt x="10387203" y="0"/>
                    <a:pt x="10519029" y="131826"/>
                    <a:pt x="10519029" y="294513"/>
                  </a:cubicBezTo>
                  <a:lnTo>
                    <a:pt x="10519029" y="4860036"/>
                  </a:lnTo>
                  <a:cubicBezTo>
                    <a:pt x="10519029" y="5022723"/>
                    <a:pt x="10387203" y="5154549"/>
                    <a:pt x="102245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0F346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43584" y="6345936"/>
            <a:ext cx="7132320" cy="640080"/>
            <a:chOff x="0" y="0"/>
            <a:chExt cx="950976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🎙️  Interactive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3584" y="7132320"/>
            <a:ext cx="7132320" cy="2560320"/>
            <a:chOff x="0" y="0"/>
            <a:chExt cx="9509760" cy="3413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9" r="0" b="-427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50976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Weekly Q&amp;A stories on Instagram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Twitter fitness polls &amp; threads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YouTube live workout sessions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79943" y="6113783"/>
            <a:ext cx="7889243" cy="3865883"/>
            <a:chOff x="0" y="0"/>
            <a:chExt cx="10518991" cy="51545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190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105190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10224516" y="0"/>
                  </a:lnTo>
                  <a:cubicBezTo>
                    <a:pt x="10387203" y="0"/>
                    <a:pt x="10519029" y="131826"/>
                    <a:pt x="10519029" y="294513"/>
                  </a:cubicBezTo>
                  <a:lnTo>
                    <a:pt x="10519029" y="4860036"/>
                  </a:lnTo>
                  <a:cubicBezTo>
                    <a:pt x="10519029" y="5022723"/>
                    <a:pt x="10387203" y="5154549"/>
                    <a:pt x="102245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0F346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021824" y="6345936"/>
            <a:ext cx="7132320" cy="640080"/>
            <a:chOff x="0" y="0"/>
            <a:chExt cx="950976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🤝  Influencer Content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21824" y="7132320"/>
            <a:ext cx="7132320" cy="2560320"/>
            <a:chOff x="0" y="0"/>
            <a:chExt cx="9509760" cy="3413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9" r="0" b="-427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50976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Micro-influencer (50K–500K) reviews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Celebrity fitness challenge collabs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Fitness blogger app tutorials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 Strategy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07543"/>
            <a:ext cx="16484603" cy="2439419"/>
            <a:chOff x="0" y="0"/>
            <a:chExt cx="21979471" cy="3252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793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21979382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21733002" y="0"/>
                  </a:lnTo>
                  <a:cubicBezTo>
                    <a:pt x="21869146" y="0"/>
                    <a:pt x="21979382" y="110363"/>
                    <a:pt x="21979382" y="246380"/>
                  </a:cubicBezTo>
                  <a:lnTo>
                    <a:pt x="21979382" y="3006090"/>
                  </a:lnTo>
                  <a:cubicBezTo>
                    <a:pt x="21979382" y="3142234"/>
                    <a:pt x="21869019" y="3252470"/>
                    <a:pt x="21733002" y="3252470"/>
                  </a:cubicBezTo>
                  <a:lnTo>
                    <a:pt x="246380" y="3252470"/>
                  </a:lnTo>
                  <a:cubicBezTo>
                    <a:pt x="110363" y="3252597"/>
                    <a:pt x="0" y="3142234"/>
                    <a:pt x="0" y="3006090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1907543"/>
            <a:ext cx="4597403" cy="665483"/>
            <a:chOff x="0" y="0"/>
            <a:chExt cx="6129871" cy="8873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9909" cy="887349"/>
            </a:xfrm>
            <a:custGeom>
              <a:avLst/>
              <a:gdLst/>
              <a:ahLst/>
              <a:cxnLst/>
              <a:rect r="r" b="b" t="t" l="l"/>
              <a:pathLst>
                <a:path h="887349" w="6129909">
                  <a:moveTo>
                    <a:pt x="0" y="202819"/>
                  </a:moveTo>
                  <a:cubicBezTo>
                    <a:pt x="0" y="90805"/>
                    <a:pt x="90805" y="0"/>
                    <a:pt x="202819" y="0"/>
                  </a:cubicBezTo>
                  <a:lnTo>
                    <a:pt x="5927090" y="0"/>
                  </a:lnTo>
                  <a:cubicBezTo>
                    <a:pt x="6039104" y="0"/>
                    <a:pt x="6129909" y="90805"/>
                    <a:pt x="6129909" y="202819"/>
                  </a:cubicBezTo>
                  <a:lnTo>
                    <a:pt x="6129909" y="684530"/>
                  </a:lnTo>
                  <a:cubicBezTo>
                    <a:pt x="6129909" y="796544"/>
                    <a:pt x="6039104" y="887349"/>
                    <a:pt x="5927090" y="887349"/>
                  </a:cubicBezTo>
                  <a:lnTo>
                    <a:pt x="202819" y="887349"/>
                  </a:lnTo>
                  <a:cubicBezTo>
                    <a:pt x="90805" y="887349"/>
                    <a:pt x="0" y="796544"/>
                    <a:pt x="0" y="684530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1920240"/>
            <a:ext cx="4572000" cy="640080"/>
            <a:chOff x="0" y="0"/>
            <a:chExt cx="60960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 — Awareness (Month 1)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0" y="2688336"/>
            <a:ext cx="15544800" cy="1554480"/>
            <a:chOff x="0" y="0"/>
            <a:chExt cx="20726400" cy="2072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7264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Instagram &amp; Facebook video ads (15–30 sec) — Reach 5 lakh users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YouTube pre-roll ads on fitness channels — 1M+ impressions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Influencer seeding: 10 micro-influencers × 1 post each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4650743"/>
            <a:ext cx="16484603" cy="2439419"/>
            <a:chOff x="0" y="0"/>
            <a:chExt cx="21979471" cy="3252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793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21979382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21733002" y="0"/>
                  </a:lnTo>
                  <a:cubicBezTo>
                    <a:pt x="21869146" y="0"/>
                    <a:pt x="21979382" y="110363"/>
                    <a:pt x="21979382" y="246380"/>
                  </a:cubicBezTo>
                  <a:lnTo>
                    <a:pt x="21979382" y="3006090"/>
                  </a:lnTo>
                  <a:cubicBezTo>
                    <a:pt x="21979382" y="3142234"/>
                    <a:pt x="21869019" y="3252470"/>
                    <a:pt x="21733002" y="3252470"/>
                  </a:cubicBezTo>
                  <a:lnTo>
                    <a:pt x="246380" y="3252470"/>
                  </a:lnTo>
                  <a:cubicBezTo>
                    <a:pt x="110363" y="3252597"/>
                    <a:pt x="0" y="3142234"/>
                    <a:pt x="0" y="3006090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01703" y="4650743"/>
            <a:ext cx="4597403" cy="665483"/>
            <a:chOff x="0" y="0"/>
            <a:chExt cx="6129871" cy="8873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29909" cy="887349"/>
            </a:xfrm>
            <a:custGeom>
              <a:avLst/>
              <a:gdLst/>
              <a:ahLst/>
              <a:cxnLst/>
              <a:rect r="r" b="b" t="t" l="l"/>
              <a:pathLst>
                <a:path h="887349" w="6129909">
                  <a:moveTo>
                    <a:pt x="0" y="202819"/>
                  </a:moveTo>
                  <a:cubicBezTo>
                    <a:pt x="0" y="90805"/>
                    <a:pt x="90805" y="0"/>
                    <a:pt x="202819" y="0"/>
                  </a:cubicBezTo>
                  <a:lnTo>
                    <a:pt x="5927090" y="0"/>
                  </a:lnTo>
                  <a:cubicBezTo>
                    <a:pt x="6039104" y="0"/>
                    <a:pt x="6129909" y="90805"/>
                    <a:pt x="6129909" y="202819"/>
                  </a:cubicBezTo>
                  <a:lnTo>
                    <a:pt x="6129909" y="684530"/>
                  </a:lnTo>
                  <a:cubicBezTo>
                    <a:pt x="6129909" y="796544"/>
                    <a:pt x="6039104" y="887349"/>
                    <a:pt x="5927090" y="887349"/>
                  </a:cubicBezTo>
                  <a:lnTo>
                    <a:pt x="202819" y="887349"/>
                  </a:lnTo>
                  <a:cubicBezTo>
                    <a:pt x="90805" y="887349"/>
                    <a:pt x="0" y="796544"/>
                    <a:pt x="0" y="684530"/>
                  </a:cubicBezTo>
                  <a:close/>
                </a:path>
              </a:pathLst>
            </a:custGeom>
            <a:solidFill>
              <a:srgbClr val="F5A623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4663440"/>
            <a:ext cx="4572000" cy="640080"/>
            <a:chOff x="0" y="0"/>
            <a:chExt cx="60960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— Consideration (Month 2)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5431536"/>
            <a:ext cx="15544800" cy="1554480"/>
            <a:chOff x="0" y="0"/>
            <a:chExt cx="20726400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264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7264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Google App Install Campaigns — target high-intent fitness keywords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Retargeting: website/app store visitors via Meta Pixel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Instagram carousel ads showcasing app features &amp; benefits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1703" y="7393943"/>
            <a:ext cx="16484603" cy="2439419"/>
            <a:chOff x="0" y="0"/>
            <a:chExt cx="21979471" cy="32525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93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21979382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21733002" y="0"/>
                  </a:lnTo>
                  <a:cubicBezTo>
                    <a:pt x="21869146" y="0"/>
                    <a:pt x="21979382" y="110363"/>
                    <a:pt x="21979382" y="246380"/>
                  </a:cubicBezTo>
                  <a:lnTo>
                    <a:pt x="21979382" y="3006090"/>
                  </a:lnTo>
                  <a:cubicBezTo>
                    <a:pt x="21979382" y="3142234"/>
                    <a:pt x="21869019" y="3252470"/>
                    <a:pt x="21733002" y="3252470"/>
                  </a:cubicBezTo>
                  <a:lnTo>
                    <a:pt x="246380" y="3252470"/>
                  </a:lnTo>
                  <a:cubicBezTo>
                    <a:pt x="110363" y="3252597"/>
                    <a:pt x="0" y="3142234"/>
                    <a:pt x="0" y="3006090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01703" y="7393943"/>
            <a:ext cx="4597403" cy="665483"/>
            <a:chOff x="0" y="0"/>
            <a:chExt cx="6129871" cy="8873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29909" cy="887349"/>
            </a:xfrm>
            <a:custGeom>
              <a:avLst/>
              <a:gdLst/>
              <a:ahLst/>
              <a:cxnLst/>
              <a:rect r="r" b="b" t="t" l="l"/>
              <a:pathLst>
                <a:path h="887349" w="6129909">
                  <a:moveTo>
                    <a:pt x="0" y="202819"/>
                  </a:moveTo>
                  <a:cubicBezTo>
                    <a:pt x="0" y="90805"/>
                    <a:pt x="90805" y="0"/>
                    <a:pt x="202819" y="0"/>
                  </a:cubicBezTo>
                  <a:lnTo>
                    <a:pt x="5927090" y="0"/>
                  </a:lnTo>
                  <a:cubicBezTo>
                    <a:pt x="6039104" y="0"/>
                    <a:pt x="6129909" y="90805"/>
                    <a:pt x="6129909" y="202819"/>
                  </a:cubicBezTo>
                  <a:lnTo>
                    <a:pt x="6129909" y="684530"/>
                  </a:lnTo>
                  <a:cubicBezTo>
                    <a:pt x="6129909" y="796544"/>
                    <a:pt x="6039104" y="887349"/>
                    <a:pt x="5927090" y="887349"/>
                  </a:cubicBezTo>
                  <a:lnTo>
                    <a:pt x="202819" y="887349"/>
                  </a:lnTo>
                  <a:cubicBezTo>
                    <a:pt x="90805" y="887349"/>
                    <a:pt x="0" y="796544"/>
                    <a:pt x="0" y="684530"/>
                  </a:cubicBezTo>
                  <a:close/>
                </a:path>
              </a:pathLst>
            </a:custGeom>
            <a:solidFill>
              <a:srgbClr val="27AE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7406640"/>
            <a:ext cx="4572000" cy="640080"/>
            <a:chOff x="0" y="0"/>
            <a:chExt cx="60960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 — Conversion (Month 3)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1600" y="8174736"/>
            <a:ext cx="15544800" cy="1554480"/>
            <a:chOff x="0" y="0"/>
            <a:chExt cx="20726400" cy="2072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264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07264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Dynamic retargeting: abandoned installs &amp; free trial users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Referral ads: 'Invite a friend, get 1 month free' campaign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Flash sale ads: 50% off premium subscription (limited time)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Budget Estimation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07543"/>
            <a:ext cx="4597403" cy="1854203"/>
            <a:chOff x="0" y="0"/>
            <a:chExt cx="6129871" cy="2472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99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61299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5833237" y="0"/>
                  </a:lnTo>
                  <a:cubicBezTo>
                    <a:pt x="5997067" y="0"/>
                    <a:pt x="6129909" y="132842"/>
                    <a:pt x="6129909" y="296672"/>
                  </a:cubicBezTo>
                  <a:lnTo>
                    <a:pt x="6129909" y="2175637"/>
                  </a:lnTo>
                  <a:cubicBezTo>
                    <a:pt x="6129909" y="2339467"/>
                    <a:pt x="5997067" y="2472309"/>
                    <a:pt x="58332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011680"/>
            <a:ext cx="4572000" cy="640080"/>
            <a:chOff x="0" y="0"/>
            <a:chExt cx="60960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096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Budget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651760"/>
            <a:ext cx="4572000" cy="822960"/>
            <a:chOff x="0" y="0"/>
            <a:chExt cx="60960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096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INR 10 Lakhs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700016" y="950976"/>
            <a:ext cx="9253728" cy="9436608"/>
          </a:xfrm>
          <a:prstGeom prst="rect">
            <a:avLst/>
          </a:prstGeom>
        </p:spPr>
      </p:pic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3931920"/>
          <a:ext cx="4546600" cy="5689600"/>
        </p:xfrm>
        <a:graphic>
          <a:graphicData uri="http://schemas.openxmlformats.org/drawingml/2006/table">
            <a:tbl>
              <a:tblPr/>
              <a:tblGrid>
                <a:gridCol w="1984860"/>
                <a:gridCol w="1192871"/>
                <a:gridCol w="1368869"/>
              </a:tblGrid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Channel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Allocation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Amount (INR)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Meta Ads (FB+IG)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3,00,000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Influencer Marketing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2,50,000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Google App Campaigns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2,00,000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Content Creation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1,50,000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Email &amp; WhatsApp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Contingency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0F0F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10,00,000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Influencer Marketing Plan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1907543"/>
            <a:ext cx="16484603" cy="1762763"/>
            <a:chOff x="0" y="0"/>
            <a:chExt cx="21979471" cy="23503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79508" cy="2350389"/>
            </a:xfrm>
            <a:custGeom>
              <a:avLst/>
              <a:gdLst/>
              <a:ahLst/>
              <a:cxnLst/>
              <a:rect r="r" b="b" t="t" l="l"/>
              <a:pathLst>
                <a:path h="2350389" w="21979508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21732112" y="0"/>
                  </a:lnTo>
                  <a:cubicBezTo>
                    <a:pt x="21868764" y="0"/>
                    <a:pt x="21979508" y="110744"/>
                    <a:pt x="21979508" y="247396"/>
                  </a:cubicBezTo>
                  <a:lnTo>
                    <a:pt x="21979508" y="2102993"/>
                  </a:lnTo>
                  <a:cubicBezTo>
                    <a:pt x="21979508" y="2239645"/>
                    <a:pt x="21868764" y="2350389"/>
                    <a:pt x="21732112" y="2350389"/>
                  </a:cubicBezTo>
                  <a:lnTo>
                    <a:pt x="247396" y="2350389"/>
                  </a:lnTo>
                  <a:cubicBezTo>
                    <a:pt x="110744" y="2350389"/>
                    <a:pt x="0" y="2239645"/>
                    <a:pt x="0" y="210299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93143" y="2090423"/>
            <a:ext cx="3134363" cy="537467"/>
            <a:chOff x="0" y="0"/>
            <a:chExt cx="4179151" cy="7166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9189" cy="716661"/>
            </a:xfrm>
            <a:custGeom>
              <a:avLst/>
              <a:gdLst/>
              <a:ahLst/>
              <a:cxnLst/>
              <a:rect r="r" b="b" t="t" l="l"/>
              <a:pathLst>
                <a:path h="716661" w="417918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4025646" y="0"/>
                  </a:lnTo>
                  <a:cubicBezTo>
                    <a:pt x="4110482" y="0"/>
                    <a:pt x="4179189" y="68707"/>
                    <a:pt x="4179189" y="153543"/>
                  </a:cubicBezTo>
                  <a:lnTo>
                    <a:pt x="4179189" y="563118"/>
                  </a:lnTo>
                  <a:cubicBezTo>
                    <a:pt x="4179189" y="647954"/>
                    <a:pt x="4110482" y="716661"/>
                    <a:pt x="402564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2103120"/>
            <a:ext cx="3108960" cy="512064"/>
            <a:chOff x="0" y="0"/>
            <a:chExt cx="41452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Mega (1M+)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89120" y="2103120"/>
            <a:ext cx="2743200" cy="512064"/>
            <a:chOff x="0" y="0"/>
            <a:chExt cx="36576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945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Count: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32320" y="2103120"/>
            <a:ext cx="4572000" cy="512064"/>
            <a:chOff x="0" y="0"/>
            <a:chExt cx="60960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Budget: INR 80,000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2926080"/>
            <a:ext cx="15544800" cy="548640"/>
            <a:chOff x="0" y="0"/>
            <a:chExt cx="207264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Deliverables: 1 dedicated reel + 3 stories + logo on bio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3919223"/>
            <a:ext cx="16484603" cy="1762763"/>
            <a:chOff x="0" y="0"/>
            <a:chExt cx="21979471" cy="23503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79508" cy="2350389"/>
            </a:xfrm>
            <a:custGeom>
              <a:avLst/>
              <a:gdLst/>
              <a:ahLst/>
              <a:cxnLst/>
              <a:rect r="r" b="b" t="t" l="l"/>
              <a:pathLst>
                <a:path h="2350389" w="21979508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21732112" y="0"/>
                  </a:lnTo>
                  <a:cubicBezTo>
                    <a:pt x="21868764" y="0"/>
                    <a:pt x="21979508" y="110744"/>
                    <a:pt x="21979508" y="247396"/>
                  </a:cubicBezTo>
                  <a:lnTo>
                    <a:pt x="21979508" y="2102993"/>
                  </a:lnTo>
                  <a:cubicBezTo>
                    <a:pt x="21979508" y="2239645"/>
                    <a:pt x="21868764" y="2350389"/>
                    <a:pt x="21732112" y="2350389"/>
                  </a:cubicBezTo>
                  <a:lnTo>
                    <a:pt x="247396" y="2350389"/>
                  </a:lnTo>
                  <a:cubicBezTo>
                    <a:pt x="110744" y="2350389"/>
                    <a:pt x="0" y="2239645"/>
                    <a:pt x="0" y="210299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93143" y="4102103"/>
            <a:ext cx="3134363" cy="537467"/>
            <a:chOff x="0" y="0"/>
            <a:chExt cx="4179151" cy="7166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79189" cy="716661"/>
            </a:xfrm>
            <a:custGeom>
              <a:avLst/>
              <a:gdLst/>
              <a:ahLst/>
              <a:cxnLst/>
              <a:rect r="r" b="b" t="t" l="l"/>
              <a:pathLst>
                <a:path h="716661" w="417918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4025646" y="0"/>
                  </a:lnTo>
                  <a:cubicBezTo>
                    <a:pt x="4110482" y="0"/>
                    <a:pt x="4179189" y="68707"/>
                    <a:pt x="4179189" y="153543"/>
                  </a:cubicBezTo>
                  <a:lnTo>
                    <a:pt x="4179189" y="563118"/>
                  </a:lnTo>
                  <a:cubicBezTo>
                    <a:pt x="4179189" y="647954"/>
                    <a:pt x="4110482" y="716661"/>
                    <a:pt x="402564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F5A623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05840" y="4114800"/>
            <a:ext cx="3108960" cy="512064"/>
            <a:chOff x="0" y="0"/>
            <a:chExt cx="4145280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Macro (100K–1M)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89120" y="4114800"/>
            <a:ext cx="2743200" cy="512064"/>
            <a:chOff x="0" y="0"/>
            <a:chExt cx="36576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Count: 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32320" y="4114800"/>
            <a:ext cx="4572000" cy="512064"/>
            <a:chOff x="0" y="0"/>
            <a:chExt cx="60960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Budget: INR 30,000 each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1600" y="4937760"/>
            <a:ext cx="15544800" cy="548640"/>
            <a:chOff x="0" y="0"/>
            <a:chExt cx="207264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Deliverables: 1 reel + 2 stories + app review post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5930903"/>
            <a:ext cx="16484603" cy="1762763"/>
            <a:chOff x="0" y="0"/>
            <a:chExt cx="21979471" cy="23503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79508" cy="2350389"/>
            </a:xfrm>
            <a:custGeom>
              <a:avLst/>
              <a:gdLst/>
              <a:ahLst/>
              <a:cxnLst/>
              <a:rect r="r" b="b" t="t" l="l"/>
              <a:pathLst>
                <a:path h="2350389" w="21979508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21732112" y="0"/>
                  </a:lnTo>
                  <a:cubicBezTo>
                    <a:pt x="21868764" y="0"/>
                    <a:pt x="21979508" y="110744"/>
                    <a:pt x="21979508" y="247396"/>
                  </a:cubicBezTo>
                  <a:lnTo>
                    <a:pt x="21979508" y="2102993"/>
                  </a:lnTo>
                  <a:cubicBezTo>
                    <a:pt x="21979508" y="2239645"/>
                    <a:pt x="21868764" y="2350389"/>
                    <a:pt x="21732112" y="2350389"/>
                  </a:cubicBezTo>
                  <a:lnTo>
                    <a:pt x="247396" y="2350389"/>
                  </a:lnTo>
                  <a:cubicBezTo>
                    <a:pt x="110744" y="2350389"/>
                    <a:pt x="0" y="2239645"/>
                    <a:pt x="0" y="210299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93143" y="6113783"/>
            <a:ext cx="3134363" cy="537467"/>
            <a:chOff x="0" y="0"/>
            <a:chExt cx="4179151" cy="7166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9189" cy="716661"/>
            </a:xfrm>
            <a:custGeom>
              <a:avLst/>
              <a:gdLst/>
              <a:ahLst/>
              <a:cxnLst/>
              <a:rect r="r" b="b" t="t" l="l"/>
              <a:pathLst>
                <a:path h="716661" w="417918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4025646" y="0"/>
                  </a:lnTo>
                  <a:cubicBezTo>
                    <a:pt x="4110482" y="0"/>
                    <a:pt x="4179189" y="68707"/>
                    <a:pt x="4179189" y="153543"/>
                  </a:cubicBezTo>
                  <a:lnTo>
                    <a:pt x="4179189" y="563118"/>
                  </a:lnTo>
                  <a:cubicBezTo>
                    <a:pt x="4179189" y="647954"/>
                    <a:pt x="4110482" y="716661"/>
                    <a:pt x="402564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27AE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05840" y="6126480"/>
            <a:ext cx="3108960" cy="512064"/>
            <a:chOff x="0" y="0"/>
            <a:chExt cx="414528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Micro (10K–100K)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389120" y="6126480"/>
            <a:ext cx="2743200" cy="512064"/>
            <a:chOff x="0" y="0"/>
            <a:chExt cx="365760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Count: 10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132320" y="6126480"/>
            <a:ext cx="4572000" cy="512064"/>
            <a:chOff x="0" y="0"/>
            <a:chExt cx="60960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Budget: INR 7,000 each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1600" y="6949440"/>
            <a:ext cx="15544800" cy="548640"/>
            <a:chOff x="0" y="0"/>
            <a:chExt cx="207264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Deliverables: 1 reel + 1 story + link in bio (7 days)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1703" y="7942583"/>
            <a:ext cx="16484603" cy="1762763"/>
            <a:chOff x="0" y="0"/>
            <a:chExt cx="21979471" cy="23503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79508" cy="2350389"/>
            </a:xfrm>
            <a:custGeom>
              <a:avLst/>
              <a:gdLst/>
              <a:ahLst/>
              <a:cxnLst/>
              <a:rect r="r" b="b" t="t" l="l"/>
              <a:pathLst>
                <a:path h="2350389" w="21979508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21732112" y="0"/>
                  </a:lnTo>
                  <a:cubicBezTo>
                    <a:pt x="21868764" y="0"/>
                    <a:pt x="21979508" y="110744"/>
                    <a:pt x="21979508" y="247396"/>
                  </a:cubicBezTo>
                  <a:lnTo>
                    <a:pt x="21979508" y="2102993"/>
                  </a:lnTo>
                  <a:cubicBezTo>
                    <a:pt x="21979508" y="2239645"/>
                    <a:pt x="21868764" y="2350389"/>
                    <a:pt x="21732112" y="2350389"/>
                  </a:cubicBezTo>
                  <a:lnTo>
                    <a:pt x="247396" y="2350389"/>
                  </a:lnTo>
                  <a:cubicBezTo>
                    <a:pt x="110744" y="2350389"/>
                    <a:pt x="0" y="2239645"/>
                    <a:pt x="0" y="210299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3498D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93143" y="8125463"/>
            <a:ext cx="3134363" cy="537467"/>
            <a:chOff x="0" y="0"/>
            <a:chExt cx="4179151" cy="71662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9189" cy="716661"/>
            </a:xfrm>
            <a:custGeom>
              <a:avLst/>
              <a:gdLst/>
              <a:ahLst/>
              <a:cxnLst/>
              <a:rect r="r" b="b" t="t" l="l"/>
              <a:pathLst>
                <a:path h="716661" w="4179189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4025646" y="0"/>
                  </a:lnTo>
                  <a:cubicBezTo>
                    <a:pt x="4110482" y="0"/>
                    <a:pt x="4179189" y="68707"/>
                    <a:pt x="4179189" y="153543"/>
                  </a:cubicBezTo>
                  <a:lnTo>
                    <a:pt x="4179189" y="563118"/>
                  </a:lnTo>
                  <a:cubicBezTo>
                    <a:pt x="4179189" y="647954"/>
                    <a:pt x="4110482" y="716661"/>
                    <a:pt x="4025646" y="716661"/>
                  </a:cubicBezTo>
                  <a:lnTo>
                    <a:pt x="153543" y="716661"/>
                  </a:lnTo>
                  <a:cubicBezTo>
                    <a:pt x="68707" y="716661"/>
                    <a:pt x="0" y="647827"/>
                    <a:pt x="0" y="563118"/>
                  </a:cubicBezTo>
                  <a:close/>
                </a:path>
              </a:pathLst>
            </a:custGeom>
            <a:solidFill>
              <a:srgbClr val="3498DB"/>
            </a:solidFill>
            <a:ln w="25400" cap="sq">
              <a:solidFill>
                <a:srgbClr val="3498D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05840" y="8138160"/>
            <a:ext cx="3108960" cy="512064"/>
            <a:chOff x="0" y="0"/>
            <a:chExt cx="41452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Nano (&lt;10K)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389120" y="8138160"/>
            <a:ext cx="2743200" cy="512064"/>
            <a:chOff x="0" y="0"/>
            <a:chExt cx="36576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498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Count: 20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132320" y="8138160"/>
            <a:ext cx="4572000" cy="512064"/>
            <a:chOff x="0" y="0"/>
            <a:chExt cx="60960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Budget: Free premium plan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1600" y="8961120"/>
            <a:ext cx="15544800" cy="548640"/>
            <a:chOff x="0" y="0"/>
            <a:chExt cx="207264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72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072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Deliverables: 1 honest review post + app tag in stories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9326880"/>
            <a:ext cx="16459200" cy="548640"/>
            <a:chOff x="0" y="0"/>
            <a:chExt cx="2194560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0A0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Total Influencer Budget: INR 2,50,000  |  Estimated Combined Reach: 15–20 Lakh users  |  Tracking via unique referral codes per influencer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Expected Outcomes &amp; KPIs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91440" y="822960"/>
            <a:ext cx="12070080" cy="749808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508743" y="1816103"/>
            <a:ext cx="5877563" cy="1342139"/>
            <a:chOff x="0" y="0"/>
            <a:chExt cx="7836751" cy="1789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67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7836788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7637907" y="0"/>
                  </a:lnTo>
                  <a:cubicBezTo>
                    <a:pt x="7747762" y="0"/>
                    <a:pt x="7836788" y="89027"/>
                    <a:pt x="7836788" y="198882"/>
                  </a:cubicBezTo>
                  <a:lnTo>
                    <a:pt x="7836788" y="1590675"/>
                  </a:lnTo>
                  <a:cubicBezTo>
                    <a:pt x="7836788" y="1700530"/>
                    <a:pt x="7747762" y="1789557"/>
                    <a:pt x="7637907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795760" y="1920240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Downloads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95760" y="2432304"/>
            <a:ext cx="5303520" cy="585216"/>
            <a:chOff x="0" y="0"/>
            <a:chExt cx="707136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0713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945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52,000+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508743" y="3352295"/>
            <a:ext cx="5877563" cy="1342139"/>
            <a:chOff x="0" y="0"/>
            <a:chExt cx="7836751" cy="17895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367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7836788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7637907" y="0"/>
                  </a:lnTo>
                  <a:cubicBezTo>
                    <a:pt x="7747762" y="0"/>
                    <a:pt x="7836788" y="89027"/>
                    <a:pt x="7836788" y="198882"/>
                  </a:cubicBezTo>
                  <a:lnTo>
                    <a:pt x="7836788" y="1590675"/>
                  </a:lnTo>
                  <a:cubicBezTo>
                    <a:pt x="7836788" y="1700530"/>
                    <a:pt x="7747762" y="1789557"/>
                    <a:pt x="7637907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795760" y="3456432"/>
            <a:ext cx="3291840" cy="548640"/>
            <a:chOff x="0" y="0"/>
            <a:chExt cx="43891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Media Reach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95760" y="3968496"/>
            <a:ext cx="5303520" cy="585216"/>
            <a:chOff x="0" y="0"/>
            <a:chExt cx="707136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0713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Lakh+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08743" y="4888487"/>
            <a:ext cx="5877563" cy="1342139"/>
            <a:chOff x="0" y="0"/>
            <a:chExt cx="7836751" cy="17895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367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7836788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7637907" y="0"/>
                  </a:lnTo>
                  <a:cubicBezTo>
                    <a:pt x="7747762" y="0"/>
                    <a:pt x="7836788" y="89027"/>
                    <a:pt x="7836788" y="198882"/>
                  </a:cubicBezTo>
                  <a:lnTo>
                    <a:pt x="7836788" y="1590675"/>
                  </a:lnTo>
                  <a:cubicBezTo>
                    <a:pt x="7836788" y="1700530"/>
                    <a:pt x="7747762" y="1789557"/>
                    <a:pt x="7637907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795760" y="4992624"/>
            <a:ext cx="3291840" cy="548640"/>
            <a:chOff x="0" y="0"/>
            <a:chExt cx="43891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CAC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795760" y="5504688"/>
            <a:ext cx="5303520" cy="585216"/>
            <a:chOff x="0" y="0"/>
            <a:chExt cx="707136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0713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INR 19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08743" y="6424679"/>
            <a:ext cx="5877563" cy="1342139"/>
            <a:chOff x="0" y="0"/>
            <a:chExt cx="7836751" cy="17895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36788" cy="1789557"/>
            </a:xfrm>
            <a:custGeom>
              <a:avLst/>
              <a:gdLst/>
              <a:ahLst/>
              <a:cxnLst/>
              <a:rect r="r" b="b" t="t" l="l"/>
              <a:pathLst>
                <a:path h="1789557" w="7836788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7637907" y="0"/>
                  </a:lnTo>
                  <a:cubicBezTo>
                    <a:pt x="7747762" y="0"/>
                    <a:pt x="7836788" y="89027"/>
                    <a:pt x="7836788" y="198882"/>
                  </a:cubicBezTo>
                  <a:lnTo>
                    <a:pt x="7836788" y="1590675"/>
                  </a:lnTo>
                  <a:cubicBezTo>
                    <a:pt x="7836788" y="1700530"/>
                    <a:pt x="7747762" y="1789557"/>
                    <a:pt x="7637907" y="1789557"/>
                  </a:cubicBezTo>
                  <a:lnTo>
                    <a:pt x="198882" y="1789557"/>
                  </a:lnTo>
                  <a:cubicBezTo>
                    <a:pt x="89027" y="1789557"/>
                    <a:pt x="0" y="1700530"/>
                    <a:pt x="0" y="1590675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9B59B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795760" y="6528816"/>
            <a:ext cx="3291840" cy="548640"/>
            <a:chOff x="0" y="0"/>
            <a:chExt cx="43891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0A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Conversion Rate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795760" y="7040880"/>
            <a:ext cx="5303520" cy="585216"/>
            <a:chOff x="0" y="0"/>
            <a:chExt cx="7071360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0713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4.2%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1703" y="7576823"/>
            <a:ext cx="16484603" cy="1305563"/>
            <a:chOff x="0" y="0"/>
            <a:chExt cx="21979471" cy="17407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93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197938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21730715" y="0"/>
                  </a:lnTo>
                  <a:cubicBezTo>
                    <a:pt x="21868003" y="0"/>
                    <a:pt x="21979382" y="111379"/>
                    <a:pt x="21979382" y="248666"/>
                  </a:cubicBezTo>
                  <a:lnTo>
                    <a:pt x="21979382" y="1491996"/>
                  </a:lnTo>
                  <a:cubicBezTo>
                    <a:pt x="21979382" y="1629283"/>
                    <a:pt x="21868003" y="1740662"/>
                    <a:pt x="21730715" y="1740662"/>
                  </a:cubicBezTo>
                  <a:lnTo>
                    <a:pt x="248666" y="1740662"/>
                  </a:lnTo>
                  <a:cubicBezTo>
                    <a:pt x="111379" y="1740789"/>
                    <a:pt x="0" y="1629410"/>
                    <a:pt x="0" y="1492123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" y="7589520"/>
            <a:ext cx="15910560" cy="1280160"/>
            <a:chOff x="0" y="0"/>
            <a:chExt cx="21214080" cy="1706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2140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171" r="0" b="-19217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121408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Funnel: 5 Lakh Reach  →  50,000 App Store Visits  →  15,000 Free Trials  →  3,500 Paid Conversions  →  INR 14L Revenue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-184149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E94560">
                <a:alpha val="1961"/>
              </a:srgbClr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617703" y="6388103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F5A623">
                <a:alpha val="1961"/>
              </a:srgbClr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914400"/>
            <a:chOff x="0" y="0"/>
            <a:chExt cx="219456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Campaign Timeline &amp; Key Milestones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703" y="1413767"/>
            <a:ext cx="16484603" cy="98555"/>
            <a:chOff x="0" y="0"/>
            <a:chExt cx="21979471" cy="1314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894837" y="4180837"/>
            <a:ext cx="50797" cy="1422397"/>
            <a:chOff x="0" y="0"/>
            <a:chExt cx="67729" cy="1896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691" cy="1896491"/>
            </a:xfrm>
            <a:custGeom>
              <a:avLst/>
              <a:gdLst/>
              <a:ahLst/>
              <a:cxnLst/>
              <a:rect r="r" b="b" t="t" l="l"/>
              <a:pathLst>
                <a:path h="1896491" w="67691">
                  <a:moveTo>
                    <a:pt x="0" y="0"/>
                  </a:moveTo>
                  <a:lnTo>
                    <a:pt x="67691" y="18964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544710" t="0" r="-3544766" b="-2"/>
              </a:stretch>
            </a:blipFill>
            <a:ln w="50800" cap="sq">
              <a:solidFill>
                <a:srgbClr val="E94560"/>
              </a:solidFill>
              <a:prstDash val="sysDot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2181863"/>
            <a:ext cx="2037083" cy="1854203"/>
            <a:chOff x="0" y="0"/>
            <a:chExt cx="2716111" cy="2472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16149" cy="2472182"/>
            </a:xfrm>
            <a:custGeom>
              <a:avLst/>
              <a:gdLst/>
              <a:ahLst/>
              <a:cxnLst/>
              <a:rect r="r" b="b" t="t" l="l"/>
              <a:pathLst>
                <a:path h="2472182" w="2716149">
                  <a:moveTo>
                    <a:pt x="0" y="1236091"/>
                  </a:moveTo>
                  <a:cubicBezTo>
                    <a:pt x="0" y="553466"/>
                    <a:pt x="608076" y="0"/>
                    <a:pt x="1358011" y="0"/>
                  </a:cubicBezTo>
                  <a:cubicBezTo>
                    <a:pt x="2107946" y="0"/>
                    <a:pt x="2716149" y="553466"/>
                    <a:pt x="2716149" y="1236091"/>
                  </a:cubicBezTo>
                  <a:cubicBezTo>
                    <a:pt x="2716149" y="1918716"/>
                    <a:pt x="2108073" y="2472182"/>
                    <a:pt x="1358138" y="2472182"/>
                  </a:cubicBezTo>
                  <a:cubicBezTo>
                    <a:pt x="608203" y="2472182"/>
                    <a:pt x="0" y="1918843"/>
                    <a:pt x="0" y="123609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194560"/>
            <a:ext cx="2011680" cy="822960"/>
            <a:chOff x="0" y="0"/>
            <a:chExt cx="26822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 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2926080"/>
            <a:ext cx="2011680" cy="694944"/>
            <a:chOff x="0" y="0"/>
            <a:chExt cx="268224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68224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LAUNCH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462023" y="2126999"/>
            <a:ext cx="13924283" cy="1945643"/>
            <a:chOff x="0" y="0"/>
            <a:chExt cx="18565711" cy="25941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5656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856562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8318607" y="0"/>
                  </a:lnTo>
                  <a:cubicBezTo>
                    <a:pt x="18455005" y="0"/>
                    <a:pt x="18565622" y="110617"/>
                    <a:pt x="18565622" y="247015"/>
                  </a:cubicBezTo>
                  <a:lnTo>
                    <a:pt x="18565622" y="2347087"/>
                  </a:lnTo>
                  <a:cubicBezTo>
                    <a:pt x="18565622" y="2483485"/>
                    <a:pt x="18455005" y="2594102"/>
                    <a:pt x="1831860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840480" y="2322576"/>
            <a:ext cx="13167360" cy="1554480"/>
            <a:chOff x="0" y="0"/>
            <a:chExt cx="1755648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55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49" r="0" b="-1150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75564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 seeding, influencer onboarding, awareness ads, app store optimization, social media page setup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94837" y="6741157"/>
            <a:ext cx="50797" cy="1422397"/>
            <a:chOff x="0" y="0"/>
            <a:chExt cx="67729" cy="18965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691" cy="1896491"/>
            </a:xfrm>
            <a:custGeom>
              <a:avLst/>
              <a:gdLst/>
              <a:ahLst/>
              <a:cxnLst/>
              <a:rect r="r" b="b" t="t" l="l"/>
              <a:pathLst>
                <a:path h="1896491" w="67691">
                  <a:moveTo>
                    <a:pt x="0" y="0"/>
                  </a:moveTo>
                  <a:lnTo>
                    <a:pt x="67691" y="18964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544710" t="0" r="-3544766" b="-2"/>
              </a:stretch>
            </a:blipFill>
            <a:ln w="50800" cap="sq">
              <a:solidFill>
                <a:srgbClr val="F5A623"/>
              </a:solidFill>
              <a:prstDash val="sysDot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01703" y="4742183"/>
            <a:ext cx="2037083" cy="1854203"/>
            <a:chOff x="0" y="0"/>
            <a:chExt cx="2716111" cy="24722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16149" cy="2472182"/>
            </a:xfrm>
            <a:custGeom>
              <a:avLst/>
              <a:gdLst/>
              <a:ahLst/>
              <a:cxnLst/>
              <a:rect r="r" b="b" t="t" l="l"/>
              <a:pathLst>
                <a:path h="2472182" w="2716149">
                  <a:moveTo>
                    <a:pt x="0" y="1236091"/>
                  </a:moveTo>
                  <a:cubicBezTo>
                    <a:pt x="0" y="553466"/>
                    <a:pt x="608076" y="0"/>
                    <a:pt x="1358011" y="0"/>
                  </a:cubicBezTo>
                  <a:cubicBezTo>
                    <a:pt x="2107946" y="0"/>
                    <a:pt x="2716149" y="553466"/>
                    <a:pt x="2716149" y="1236091"/>
                  </a:cubicBezTo>
                  <a:cubicBezTo>
                    <a:pt x="2716149" y="1918716"/>
                    <a:pt x="2108073" y="2472182"/>
                    <a:pt x="1358138" y="2472182"/>
                  </a:cubicBezTo>
                  <a:cubicBezTo>
                    <a:pt x="608203" y="2472182"/>
                    <a:pt x="0" y="1918843"/>
                    <a:pt x="0" y="1236091"/>
                  </a:cubicBezTo>
                  <a:close/>
                </a:path>
              </a:pathLst>
            </a:custGeom>
            <a:solidFill>
              <a:srgbClr val="F5A623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4754880"/>
            <a:ext cx="2011680" cy="822960"/>
            <a:chOff x="0" y="0"/>
            <a:chExt cx="268224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 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5486400"/>
            <a:ext cx="2011680" cy="694944"/>
            <a:chOff x="0" y="0"/>
            <a:chExt cx="268224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68224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GROW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462023" y="4687319"/>
            <a:ext cx="13924283" cy="1945643"/>
            <a:chOff x="0" y="0"/>
            <a:chExt cx="18565711" cy="25941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5656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856562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8318607" y="0"/>
                  </a:lnTo>
                  <a:cubicBezTo>
                    <a:pt x="18455005" y="0"/>
                    <a:pt x="18565622" y="110617"/>
                    <a:pt x="18565622" y="247015"/>
                  </a:cubicBezTo>
                  <a:lnTo>
                    <a:pt x="18565622" y="2347087"/>
                  </a:lnTo>
                  <a:cubicBezTo>
                    <a:pt x="18565622" y="2483485"/>
                    <a:pt x="18455005" y="2594102"/>
                    <a:pt x="1831860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F5A62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840480" y="4882896"/>
            <a:ext cx="13167360" cy="1554480"/>
            <a:chOff x="0" y="0"/>
            <a:chExt cx="1755648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5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49" r="0" b="-1150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75564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Conversion campaigns, referral program launch, Google App Install ads, #GetFitWithPro challenge viral push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1703" y="7302503"/>
            <a:ext cx="2037083" cy="1854203"/>
            <a:chOff x="0" y="0"/>
            <a:chExt cx="2716111" cy="24722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16149" cy="2472182"/>
            </a:xfrm>
            <a:custGeom>
              <a:avLst/>
              <a:gdLst/>
              <a:ahLst/>
              <a:cxnLst/>
              <a:rect r="r" b="b" t="t" l="l"/>
              <a:pathLst>
                <a:path h="2472182" w="2716149">
                  <a:moveTo>
                    <a:pt x="0" y="1236091"/>
                  </a:moveTo>
                  <a:cubicBezTo>
                    <a:pt x="0" y="553466"/>
                    <a:pt x="608076" y="0"/>
                    <a:pt x="1358011" y="0"/>
                  </a:cubicBezTo>
                  <a:cubicBezTo>
                    <a:pt x="2107946" y="0"/>
                    <a:pt x="2716149" y="553466"/>
                    <a:pt x="2716149" y="1236091"/>
                  </a:cubicBezTo>
                  <a:cubicBezTo>
                    <a:pt x="2716149" y="1918716"/>
                    <a:pt x="2108073" y="2472182"/>
                    <a:pt x="1358138" y="2472182"/>
                  </a:cubicBezTo>
                  <a:cubicBezTo>
                    <a:pt x="608203" y="2472182"/>
                    <a:pt x="0" y="1918843"/>
                    <a:pt x="0" y="1236091"/>
                  </a:cubicBezTo>
                  <a:close/>
                </a:path>
              </a:pathLst>
            </a:custGeom>
            <a:solidFill>
              <a:srgbClr val="27AE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7315200"/>
            <a:ext cx="2011680" cy="822960"/>
            <a:chOff x="0" y="0"/>
            <a:chExt cx="268224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 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8046720"/>
            <a:ext cx="2011680" cy="694944"/>
            <a:chOff x="0" y="0"/>
            <a:chExt cx="268224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68224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462023" y="7247639"/>
            <a:ext cx="13924283" cy="1945643"/>
            <a:chOff x="0" y="0"/>
            <a:chExt cx="18565711" cy="25941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56562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856562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8318607" y="0"/>
                  </a:lnTo>
                  <a:cubicBezTo>
                    <a:pt x="18455005" y="0"/>
                    <a:pt x="18565622" y="110617"/>
                    <a:pt x="18565622" y="247015"/>
                  </a:cubicBezTo>
                  <a:lnTo>
                    <a:pt x="18565622" y="2347087"/>
                  </a:lnTo>
                  <a:cubicBezTo>
                    <a:pt x="18565622" y="2483485"/>
                    <a:pt x="18455005" y="2594102"/>
                    <a:pt x="1831860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0F3460"/>
            </a:solidFill>
            <a:ln w="25400" cap="sq">
              <a:solidFill>
                <a:srgbClr val="27AE6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3840480" y="7443216"/>
            <a:ext cx="13167360" cy="1554480"/>
            <a:chOff x="0" y="0"/>
            <a:chExt cx="17556480" cy="2072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556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49" r="0" b="-11504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75564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0F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Retargeting inactive users, flash sale, premium conversion push, UGC contest, campaign performance review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730503" y="9131303"/>
            <a:ext cx="12827003" cy="793499"/>
            <a:chOff x="0" y="0"/>
            <a:chExt cx="17102671" cy="105799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1028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7102837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16850868" y="0"/>
                  </a:lnTo>
                  <a:cubicBezTo>
                    <a:pt x="16989933" y="0"/>
                    <a:pt x="17102837" y="112776"/>
                    <a:pt x="17102837" y="251968"/>
                  </a:cubicBezTo>
                  <a:lnTo>
                    <a:pt x="17102837" y="806069"/>
                  </a:lnTo>
                  <a:cubicBezTo>
                    <a:pt x="17102837" y="945134"/>
                    <a:pt x="16990061" y="1058037"/>
                    <a:pt x="16850868" y="1058037"/>
                  </a:cubicBezTo>
                  <a:lnTo>
                    <a:pt x="251968" y="1058037"/>
                  </a:lnTo>
                  <a:cubicBezTo>
                    <a:pt x="112776" y="1058037"/>
                    <a:pt x="0" y="945261"/>
                    <a:pt x="0" y="806069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2743200" y="9144000"/>
            <a:ext cx="12801600" cy="768096"/>
            <a:chOff x="0" y="0"/>
            <a:chExt cx="1706880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#GetFitWithPro  —  Prepared by Karan Kumar  |  Vellaration Technologies  |  Batch 2026-27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DAHONvL8pvI</dc:identifier>
  <dcterms:modified xsi:type="dcterms:W3CDTF">2011-08-01T06:04:30Z</dcterms:modified>
  <cp:revision>1</cp:revision>
  <dc:title>Document from Karan Singh🥰 (1).pptx</dc:title>
</cp:coreProperties>
</file>